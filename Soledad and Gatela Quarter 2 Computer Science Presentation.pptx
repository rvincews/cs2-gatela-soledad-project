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aret Bold" charset="1" panose="00000000000000000000"/>
      <p:regular r:id="rId16"/>
    </p:embeddedFont>
    <p:embeddedFont>
      <p:font typeface="Garet" charset="1" panose="00000000000000000000"/>
      <p:regular r:id="rId17"/>
    </p:embeddedFont>
    <p:embeddedFont>
      <p:font typeface="Aileron" charset="1" panose="00000500000000000000"/>
      <p:regular r:id="rId18"/>
    </p:embeddedFont>
    <p:embeddedFont>
      <p:font typeface="Aileron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2273" y="1205328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8" y="0"/>
                </a:lnTo>
                <a:lnTo>
                  <a:pt x="314088" y="351114"/>
                </a:lnTo>
                <a:lnTo>
                  <a:pt x="0" y="3511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56228" y="8257181"/>
            <a:ext cx="2524350" cy="612496"/>
            <a:chOff x="0" y="0"/>
            <a:chExt cx="664849" cy="1613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4849" cy="161316"/>
            </a:xfrm>
            <a:custGeom>
              <a:avLst/>
              <a:gdLst/>
              <a:ahLst/>
              <a:cxnLst/>
              <a:rect r="r" b="b" t="t" l="l"/>
              <a:pathLst>
                <a:path h="161316" w="664849">
                  <a:moveTo>
                    <a:pt x="80658" y="0"/>
                  </a:moveTo>
                  <a:lnTo>
                    <a:pt x="584192" y="0"/>
                  </a:lnTo>
                  <a:cubicBezTo>
                    <a:pt x="605583" y="0"/>
                    <a:pt x="626099" y="8498"/>
                    <a:pt x="641225" y="23624"/>
                  </a:cubicBezTo>
                  <a:cubicBezTo>
                    <a:pt x="656352" y="38750"/>
                    <a:pt x="664849" y="59266"/>
                    <a:pt x="664849" y="80658"/>
                  </a:cubicBezTo>
                  <a:lnTo>
                    <a:pt x="664849" y="80658"/>
                  </a:lnTo>
                  <a:cubicBezTo>
                    <a:pt x="664849" y="102050"/>
                    <a:pt x="656352" y="122565"/>
                    <a:pt x="641225" y="137692"/>
                  </a:cubicBezTo>
                  <a:cubicBezTo>
                    <a:pt x="626099" y="152818"/>
                    <a:pt x="605583" y="161316"/>
                    <a:pt x="584192" y="161316"/>
                  </a:cubicBezTo>
                  <a:lnTo>
                    <a:pt x="80658" y="161316"/>
                  </a:lnTo>
                  <a:cubicBezTo>
                    <a:pt x="59266" y="161316"/>
                    <a:pt x="38750" y="152818"/>
                    <a:pt x="23624" y="137692"/>
                  </a:cubicBezTo>
                  <a:cubicBezTo>
                    <a:pt x="8498" y="122565"/>
                    <a:pt x="0" y="102050"/>
                    <a:pt x="0" y="80658"/>
                  </a:cubicBezTo>
                  <a:lnTo>
                    <a:pt x="0" y="80658"/>
                  </a:lnTo>
                  <a:cubicBezTo>
                    <a:pt x="0" y="59266"/>
                    <a:pt x="8498" y="38750"/>
                    <a:pt x="23624" y="23624"/>
                  </a:cubicBezTo>
                  <a:cubicBezTo>
                    <a:pt x="38750" y="8498"/>
                    <a:pt x="59266" y="0"/>
                    <a:pt x="80658" y="0"/>
                  </a:cubicBezTo>
                  <a:close/>
                </a:path>
              </a:pathLst>
            </a:custGeom>
            <a:solidFill>
              <a:srgbClr val="FE654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4849" cy="208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22279" y="-1678670"/>
            <a:ext cx="13306457" cy="1330645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522930" y="1205328"/>
            <a:ext cx="5736370" cy="7320194"/>
          </a:xfrm>
          <a:custGeom>
            <a:avLst/>
            <a:gdLst/>
            <a:ahLst/>
            <a:cxnLst/>
            <a:rect r="r" b="b" t="t" l="l"/>
            <a:pathLst>
              <a:path h="7320194" w="5736370">
                <a:moveTo>
                  <a:pt x="0" y="0"/>
                </a:moveTo>
                <a:lnTo>
                  <a:pt x="5736370" y="0"/>
                </a:lnTo>
                <a:lnTo>
                  <a:pt x="5736370" y="7320194"/>
                </a:lnTo>
                <a:lnTo>
                  <a:pt x="0" y="73201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86467" y="6125463"/>
            <a:ext cx="4139590" cy="2664390"/>
          </a:xfrm>
          <a:custGeom>
            <a:avLst/>
            <a:gdLst/>
            <a:ahLst/>
            <a:cxnLst/>
            <a:rect r="r" b="b" t="t" l="l"/>
            <a:pathLst>
              <a:path h="2664390" w="4139590">
                <a:moveTo>
                  <a:pt x="0" y="0"/>
                </a:moveTo>
                <a:lnTo>
                  <a:pt x="4139590" y="0"/>
                </a:lnTo>
                <a:lnTo>
                  <a:pt x="4139590" y="2664391"/>
                </a:lnTo>
                <a:lnTo>
                  <a:pt x="0" y="2664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214213" y="1028700"/>
            <a:ext cx="2428427" cy="824816"/>
          </a:xfrm>
          <a:custGeom>
            <a:avLst/>
            <a:gdLst/>
            <a:ahLst/>
            <a:cxnLst/>
            <a:rect r="r" b="b" t="t" l="l"/>
            <a:pathLst>
              <a:path h="824816" w="2428427">
                <a:moveTo>
                  <a:pt x="0" y="0"/>
                </a:moveTo>
                <a:lnTo>
                  <a:pt x="2428426" y="0"/>
                </a:lnTo>
                <a:lnTo>
                  <a:pt x="2428426" y="824816"/>
                </a:lnTo>
                <a:lnTo>
                  <a:pt x="0" y="8248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02273" y="3108969"/>
            <a:ext cx="7972227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Computer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2273" y="4655261"/>
            <a:ext cx="7715964" cy="137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0"/>
              </a:lnSpc>
            </a:pPr>
            <a:r>
              <a:rPr lang="en-US" sz="8029">
                <a:solidFill>
                  <a:srgbClr val="F5F5F5"/>
                </a:solidFill>
                <a:latin typeface="Garet"/>
                <a:ea typeface="Garet"/>
                <a:cs typeface="Garet"/>
                <a:sym typeface="Garet"/>
              </a:rPr>
              <a:t>Science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78375" y="1151841"/>
            <a:ext cx="3048453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Rile Vince W. Soledad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Hezekiah C. Gatela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34206" y="8228412"/>
            <a:ext cx="968395" cy="60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2"/>
              </a:lnSpc>
            </a:pPr>
            <a:r>
              <a:rPr lang="en-US" sz="3558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Start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02273" y="5167498"/>
            <a:ext cx="4078458" cy="2739304"/>
            <a:chOff x="0" y="0"/>
            <a:chExt cx="5437944" cy="36524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33013" y="0"/>
              <a:ext cx="3652406" cy="3652406"/>
            </a:xfrm>
            <a:custGeom>
              <a:avLst/>
              <a:gdLst/>
              <a:ahLst/>
              <a:cxnLst/>
              <a:rect r="r" b="b" t="t" l="l"/>
              <a:pathLst>
                <a:path h="3652406" w="3652406">
                  <a:moveTo>
                    <a:pt x="0" y="0"/>
                  </a:moveTo>
                  <a:lnTo>
                    <a:pt x="3652406" y="0"/>
                  </a:lnTo>
                  <a:lnTo>
                    <a:pt x="3652406" y="3652406"/>
                  </a:lnTo>
                  <a:lnTo>
                    <a:pt x="0" y="3652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1163331"/>
              <a:ext cx="1035619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The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694200" y="1778578"/>
              <a:ext cx="1743744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Program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39798" y="-3977874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10523" y="1974394"/>
            <a:ext cx="4041346" cy="6946063"/>
          </a:xfrm>
          <a:custGeom>
            <a:avLst/>
            <a:gdLst/>
            <a:ahLst/>
            <a:cxnLst/>
            <a:rect r="r" b="b" t="t" l="l"/>
            <a:pathLst>
              <a:path h="6946063" w="4041346">
                <a:moveTo>
                  <a:pt x="0" y="0"/>
                </a:moveTo>
                <a:lnTo>
                  <a:pt x="4041346" y="0"/>
                </a:lnTo>
                <a:lnTo>
                  <a:pt x="4041346" y="6946063"/>
                </a:lnTo>
                <a:lnTo>
                  <a:pt x="0" y="69460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674832"/>
            <a:ext cx="8292424" cy="1744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7"/>
              </a:lnSpc>
            </a:pPr>
            <a:r>
              <a:rPr lang="en-US" sz="3334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Members:</a:t>
            </a:r>
          </a:p>
          <a:p>
            <a:pPr algn="l">
              <a:lnSpc>
                <a:spcPts val="4667"/>
              </a:lnSpc>
            </a:pPr>
            <a:r>
              <a:rPr lang="en-US" sz="3334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Hezekiah C. Gatela (Interface, if statements)</a:t>
            </a:r>
          </a:p>
          <a:p>
            <a:pPr algn="l">
              <a:lnSpc>
                <a:spcPts val="4667"/>
              </a:lnSpc>
            </a:pPr>
            <a:r>
              <a:rPr lang="en-US" sz="3334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Rile Vince W. Soledad (day logic)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01752" y="1028700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7" y="0"/>
                </a:lnTo>
                <a:lnTo>
                  <a:pt x="314087" y="351114"/>
                </a:lnTo>
                <a:lnTo>
                  <a:pt x="0" y="351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17928" y="981075"/>
            <a:ext cx="3048453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Rile Vince W. Soledad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Hezekiah C. Gatela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2243874"/>
            <a:ext cx="7741951" cy="1770007"/>
            <a:chOff x="0" y="0"/>
            <a:chExt cx="10322601" cy="236001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95250"/>
              <a:ext cx="7980672" cy="18603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510"/>
                </a:lnSpc>
              </a:pPr>
              <a:r>
                <a:rPr lang="en-US" sz="8720" b="true">
                  <a:solidFill>
                    <a:srgbClr val="FE654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Welcome!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452484"/>
              <a:ext cx="10322601" cy="907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7"/>
                </a:lnSpc>
              </a:pPr>
              <a:r>
                <a:rPr lang="en-US" sz="4248" b="true">
                  <a:solidFill>
                    <a:srgbClr val="FE654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to the Fresh Tracker! Team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39571" y="1194562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8" y="0"/>
                </a:lnTo>
                <a:lnTo>
                  <a:pt x="314088" y="351114"/>
                </a:lnTo>
                <a:lnTo>
                  <a:pt x="0" y="3511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362819" y="1545676"/>
            <a:ext cx="13306457" cy="1330645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4829632"/>
            <a:ext cx="8296458" cy="5249395"/>
          </a:xfrm>
          <a:custGeom>
            <a:avLst/>
            <a:gdLst/>
            <a:ahLst/>
            <a:cxnLst/>
            <a:rect r="r" b="b" t="t" l="l"/>
            <a:pathLst>
              <a:path h="5249395" w="8296458">
                <a:moveTo>
                  <a:pt x="0" y="0"/>
                </a:moveTo>
                <a:lnTo>
                  <a:pt x="8296458" y="0"/>
                </a:lnTo>
                <a:lnTo>
                  <a:pt x="8296458" y="5249395"/>
                </a:lnTo>
                <a:lnTo>
                  <a:pt x="0" y="52493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472435" y="1758401"/>
            <a:ext cx="8493424" cy="21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78"/>
              </a:lnSpc>
            </a:pPr>
            <a:r>
              <a:rPr lang="en-US" sz="6055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Introduction / Problem 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62983" y="3926852"/>
            <a:ext cx="7096317" cy="308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5"/>
              </a:lnSpc>
            </a:pPr>
            <a:r>
              <a:rPr lang="en-US" sz="2203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In many households, food and household products are often forgotten in storage until they expire,</a:t>
            </a:r>
          </a:p>
          <a:p>
            <a:pPr algn="just">
              <a:lnSpc>
                <a:spcPts val="3085"/>
              </a:lnSpc>
            </a:pPr>
            <a:r>
              <a:rPr lang="en-US" sz="2203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leading to waste and unnecessary expenses. Likewise, grocery shopping can be unorganized, resulting</a:t>
            </a:r>
          </a:p>
          <a:p>
            <a:pPr algn="just">
              <a:lnSpc>
                <a:spcPts val="3085"/>
              </a:lnSpc>
            </a:pPr>
            <a:r>
              <a:rPr lang="en-US" sz="2203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in overspending, buying duplicates, or forgetting essential items. Additionally, calculating expenses with</a:t>
            </a:r>
          </a:p>
          <a:p>
            <a:pPr algn="just">
              <a:lnSpc>
                <a:spcPts val="3085"/>
              </a:lnSpc>
            </a:pPr>
            <a:r>
              <a:rPr lang="en-US" sz="2203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discounts, vouchers, and coupons can be confusing and time-consuming.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62983" y="7334467"/>
            <a:ext cx="7096317" cy="1923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5"/>
              </a:lnSpc>
            </a:pPr>
            <a:r>
              <a:rPr lang="en-US" sz="2203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This project addresses the problem of product waste, poor grocery organization, and budgeting</a:t>
            </a:r>
          </a:p>
          <a:p>
            <a:pPr algn="just">
              <a:lnSpc>
                <a:spcPts val="3085"/>
              </a:lnSpc>
            </a:pPr>
            <a:r>
              <a:rPr lang="en-US" sz="2203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challenges by creating a tool that helps users track expiry dates, manage grocery lists, and compute</a:t>
            </a:r>
          </a:p>
          <a:p>
            <a:pPr algn="just">
              <a:lnSpc>
                <a:spcPts val="3085"/>
              </a:lnSpc>
            </a:pPr>
            <a:r>
              <a:rPr lang="en-US" sz="2203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costs effectively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50851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695155" y="0"/>
                </a:moveTo>
                <a:lnTo>
                  <a:pt x="0" y="0"/>
                </a:lnTo>
                <a:lnTo>
                  <a:pt x="0" y="775528"/>
                </a:lnTo>
                <a:lnTo>
                  <a:pt x="695155" y="775528"/>
                </a:lnTo>
                <a:lnTo>
                  <a:pt x="69515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585890" y="1171026"/>
            <a:ext cx="255368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Rile Vince W. Soledad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Hezekiah C. Gatela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6651" y="2007616"/>
            <a:ext cx="9085785" cy="1552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727"/>
              </a:lnSpc>
            </a:pPr>
            <a:r>
              <a:rPr lang="en-US" sz="909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Fresh Tracker!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77169" y="3565412"/>
            <a:ext cx="6466831" cy="119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86"/>
              </a:lnSpc>
            </a:pPr>
            <a:r>
              <a:rPr lang="en-US" sz="3418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– A Grocery and Expiry Date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1667" y="1194562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8" y="0"/>
                </a:lnTo>
                <a:lnTo>
                  <a:pt x="314088" y="351114"/>
                </a:lnTo>
                <a:lnTo>
                  <a:pt x="0" y="3511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35960" y="-3779318"/>
            <a:ext cx="13306457" cy="1330645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754356" y="1545676"/>
            <a:ext cx="4945524" cy="6766264"/>
          </a:xfrm>
          <a:custGeom>
            <a:avLst/>
            <a:gdLst/>
            <a:ahLst/>
            <a:cxnLst/>
            <a:rect r="r" b="b" t="t" l="l"/>
            <a:pathLst>
              <a:path h="6766264" w="4945524">
                <a:moveTo>
                  <a:pt x="0" y="0"/>
                </a:moveTo>
                <a:lnTo>
                  <a:pt x="4945523" y="0"/>
                </a:lnTo>
                <a:lnTo>
                  <a:pt x="4945523" y="6766264"/>
                </a:lnTo>
                <a:lnTo>
                  <a:pt x="0" y="67662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427813" y="2873911"/>
            <a:ext cx="3261376" cy="5570674"/>
          </a:xfrm>
          <a:custGeom>
            <a:avLst/>
            <a:gdLst/>
            <a:ahLst/>
            <a:cxnLst/>
            <a:rect r="r" b="b" t="t" l="l"/>
            <a:pathLst>
              <a:path h="5570674" w="3261376">
                <a:moveTo>
                  <a:pt x="0" y="0"/>
                </a:moveTo>
                <a:lnTo>
                  <a:pt x="3261376" y="0"/>
                </a:lnTo>
                <a:lnTo>
                  <a:pt x="3261376" y="5570674"/>
                </a:lnTo>
                <a:lnTo>
                  <a:pt x="0" y="5570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576196"/>
            <a:ext cx="5802035" cy="221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4"/>
              </a:lnSpc>
            </a:pPr>
            <a:r>
              <a:rPr lang="en-US" sz="741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Our </a:t>
            </a:r>
          </a:p>
          <a:p>
            <a:pPr algn="l">
              <a:lnSpc>
                <a:spcPts val="8744"/>
              </a:lnSpc>
            </a:pPr>
            <a:r>
              <a:rPr lang="en-US" sz="741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086350"/>
            <a:ext cx="7006043" cy="417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sz="2151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1. To provide a reminder system for expiry dates, reducing wasted food and money.</a:t>
            </a:r>
          </a:p>
          <a:p>
            <a:pPr algn="l">
              <a:lnSpc>
                <a:spcPts val="3011"/>
              </a:lnSpc>
            </a:pPr>
            <a:r>
              <a:rPr lang="en-US" sz="2151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2. To organize grocery shopping through an interactive list where users can add, remove, and check</a:t>
            </a:r>
          </a:p>
          <a:p>
            <a:pPr algn="l">
              <a:lnSpc>
                <a:spcPts val="3011"/>
              </a:lnSpc>
            </a:pPr>
            <a:r>
              <a:rPr lang="en-US" sz="2151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items.</a:t>
            </a:r>
          </a:p>
          <a:p>
            <a:pPr algn="l">
              <a:lnSpc>
                <a:spcPts val="3011"/>
              </a:lnSpc>
            </a:pPr>
            <a:r>
              <a:rPr lang="en-US" sz="2151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3. To calculate total expenses including discounts, vouchers, and coupons for better budgeting.</a:t>
            </a:r>
          </a:p>
          <a:p>
            <a:pPr algn="l">
              <a:lnSpc>
                <a:spcPts val="3011"/>
              </a:lnSpc>
            </a:pPr>
            <a:r>
              <a:rPr lang="en-US" sz="2151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4. To implement Python programming concepts (lists, conditional statements, functions, input/output).</a:t>
            </a:r>
          </a:p>
          <a:p>
            <a:pPr algn="l">
              <a:lnSpc>
                <a:spcPts val="3011"/>
              </a:lnSpc>
            </a:pPr>
            <a:r>
              <a:rPr lang="en-US" sz="2151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5. To encourage responsible consumption and effective household management.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78375" y="1151841"/>
            <a:ext cx="3048453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Rile Vince W. Soledad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Hezekiah C. Gatela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46461" y="-1821184"/>
            <a:ext cx="13926533" cy="139265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77908" y="3197598"/>
            <a:ext cx="3290620" cy="5307452"/>
          </a:xfrm>
          <a:custGeom>
            <a:avLst/>
            <a:gdLst/>
            <a:ahLst/>
            <a:cxnLst/>
            <a:rect r="r" b="b" t="t" l="l"/>
            <a:pathLst>
              <a:path h="5307452" w="3290620">
                <a:moveTo>
                  <a:pt x="0" y="0"/>
                </a:moveTo>
                <a:lnTo>
                  <a:pt x="3290620" y="0"/>
                </a:lnTo>
                <a:lnTo>
                  <a:pt x="3290620" y="5307452"/>
                </a:lnTo>
                <a:lnTo>
                  <a:pt x="0" y="5307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98711" y="2645506"/>
            <a:ext cx="4084408" cy="5942921"/>
          </a:xfrm>
          <a:custGeom>
            <a:avLst/>
            <a:gdLst/>
            <a:ahLst/>
            <a:cxnLst/>
            <a:rect r="r" b="b" t="t" l="l"/>
            <a:pathLst>
              <a:path h="5942921" w="4084408">
                <a:moveTo>
                  <a:pt x="0" y="0"/>
                </a:moveTo>
                <a:lnTo>
                  <a:pt x="4084408" y="0"/>
                </a:lnTo>
                <a:lnTo>
                  <a:pt x="4084408" y="5942922"/>
                </a:lnTo>
                <a:lnTo>
                  <a:pt x="0" y="5942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40777" y="1009101"/>
            <a:ext cx="6323367" cy="374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19"/>
              </a:lnSpc>
            </a:pPr>
            <a:r>
              <a:rPr lang="en-US" sz="10728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Our</a:t>
            </a:r>
          </a:p>
          <a:p>
            <a:pPr algn="l">
              <a:lnSpc>
                <a:spcPts val="15019"/>
              </a:lnSpc>
            </a:pPr>
            <a:r>
              <a:rPr lang="en-US" sz="10728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40777" y="4869120"/>
            <a:ext cx="7337900" cy="3719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3"/>
              </a:lnSpc>
            </a:pPr>
            <a:r>
              <a:rPr lang="en-US" sz="2645" b="true">
                <a:solidFill>
                  <a:srgbClr val="F5F5F5"/>
                </a:solidFill>
                <a:latin typeface="Aileron Bold"/>
                <a:ea typeface="Aileron Bold"/>
                <a:cs typeface="Aileron Bold"/>
                <a:sym typeface="Aileron Bold"/>
              </a:rPr>
              <a:t>1. Expiry Tracker </a:t>
            </a:r>
            <a:r>
              <a:rPr lang="en-US" sz="2645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– Keeps track of items that are about to expire.</a:t>
            </a:r>
          </a:p>
          <a:p>
            <a:pPr algn="l">
              <a:lnSpc>
                <a:spcPts val="3703"/>
              </a:lnSpc>
            </a:pPr>
          </a:p>
          <a:p>
            <a:pPr algn="l">
              <a:lnSpc>
                <a:spcPts val="3703"/>
              </a:lnSpc>
            </a:pPr>
            <a:r>
              <a:rPr lang="en-US" sz="2645" b="true">
                <a:solidFill>
                  <a:srgbClr val="F5F5F5"/>
                </a:solidFill>
                <a:latin typeface="Aileron Bold"/>
                <a:ea typeface="Aileron Bold"/>
                <a:cs typeface="Aileron Bold"/>
                <a:sym typeface="Aileron Bold"/>
              </a:rPr>
              <a:t>2. Grocery List Manager</a:t>
            </a:r>
            <a:r>
              <a:rPr lang="en-US" sz="2645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 – Add, remove, and check products as bought.</a:t>
            </a:r>
          </a:p>
          <a:p>
            <a:pPr algn="l">
              <a:lnSpc>
                <a:spcPts val="3703"/>
              </a:lnSpc>
            </a:pPr>
          </a:p>
          <a:p>
            <a:pPr algn="l">
              <a:lnSpc>
                <a:spcPts val="3703"/>
              </a:lnSpc>
            </a:pPr>
            <a:r>
              <a:rPr lang="en-US" sz="2645" b="true">
                <a:solidFill>
                  <a:srgbClr val="F5F5F5"/>
                </a:solidFill>
                <a:latin typeface="Aileron Bold"/>
                <a:ea typeface="Aileron Bold"/>
                <a:cs typeface="Aileron Bold"/>
                <a:sym typeface="Aileron Bold"/>
              </a:rPr>
              <a:t>3. Cost Calculator </a:t>
            </a:r>
            <a:r>
              <a:rPr lang="en-US" sz="2645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– Computes expenses and applies discounts/coupons.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41667" y="1194562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8" y="0"/>
                </a:lnTo>
                <a:lnTo>
                  <a:pt x="314088" y="351114"/>
                </a:lnTo>
                <a:lnTo>
                  <a:pt x="0" y="3511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22683" y="1171026"/>
            <a:ext cx="3048453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Rile Vince W. Soledad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Hezekiah C. Gatela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24734" y="-1821184"/>
            <a:ext cx="13926533" cy="139265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525506" y="1416464"/>
            <a:ext cx="6416954" cy="7525212"/>
          </a:xfrm>
          <a:custGeom>
            <a:avLst/>
            <a:gdLst/>
            <a:ahLst/>
            <a:cxnLst/>
            <a:rect r="r" b="b" t="t" l="l"/>
            <a:pathLst>
              <a:path h="7525212" w="6416954">
                <a:moveTo>
                  <a:pt x="0" y="0"/>
                </a:moveTo>
                <a:lnTo>
                  <a:pt x="6416953" y="0"/>
                </a:lnTo>
                <a:lnTo>
                  <a:pt x="6416953" y="7525212"/>
                </a:lnTo>
                <a:lnTo>
                  <a:pt x="0" y="7525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1667" y="1194562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8" y="0"/>
                </a:lnTo>
                <a:lnTo>
                  <a:pt x="314088" y="351114"/>
                </a:lnTo>
                <a:lnTo>
                  <a:pt x="0" y="351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98711" y="3386729"/>
            <a:ext cx="529511" cy="529511"/>
          </a:xfrm>
          <a:custGeom>
            <a:avLst/>
            <a:gdLst/>
            <a:ahLst/>
            <a:cxnLst/>
            <a:rect r="r" b="b" t="t" l="l"/>
            <a:pathLst>
              <a:path h="529511" w="529511">
                <a:moveTo>
                  <a:pt x="0" y="0"/>
                </a:moveTo>
                <a:lnTo>
                  <a:pt x="529511" y="0"/>
                </a:lnTo>
                <a:lnTo>
                  <a:pt x="529511" y="529511"/>
                </a:lnTo>
                <a:lnTo>
                  <a:pt x="0" y="529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98711" y="6364008"/>
            <a:ext cx="529511" cy="529511"/>
          </a:xfrm>
          <a:custGeom>
            <a:avLst/>
            <a:gdLst/>
            <a:ahLst/>
            <a:cxnLst/>
            <a:rect r="r" b="b" t="t" l="l"/>
            <a:pathLst>
              <a:path h="529511" w="529511">
                <a:moveTo>
                  <a:pt x="0" y="0"/>
                </a:moveTo>
                <a:lnTo>
                  <a:pt x="529511" y="0"/>
                </a:lnTo>
                <a:lnTo>
                  <a:pt x="529511" y="529511"/>
                </a:lnTo>
                <a:lnTo>
                  <a:pt x="0" y="529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98711" y="2304689"/>
            <a:ext cx="8626795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8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Inputs and Outputs: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531780" y="3386729"/>
            <a:ext cx="6612220" cy="2703694"/>
            <a:chOff x="0" y="0"/>
            <a:chExt cx="8816294" cy="360492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646550"/>
              <a:ext cx="8816294" cy="295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61"/>
                </a:lnSpc>
              </a:pPr>
              <a:r>
                <a:rPr lang="en-US" sz="2115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- Product name</a:t>
              </a:r>
            </a:p>
            <a:p>
              <a:pPr algn="l">
                <a:lnSpc>
                  <a:spcPts val="2961"/>
                </a:lnSpc>
              </a:pPr>
              <a:r>
                <a:rPr lang="en-US" sz="2115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- Expiry date (manual entry) OR product type (to assign estimated expiry)</a:t>
              </a:r>
            </a:p>
            <a:p>
              <a:pPr algn="l">
                <a:lnSpc>
                  <a:spcPts val="2961"/>
                </a:lnSpc>
              </a:pPr>
              <a:r>
                <a:rPr lang="en-US" sz="2115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- Grocery list items</a:t>
              </a:r>
            </a:p>
            <a:p>
              <a:pPr algn="l">
                <a:lnSpc>
                  <a:spcPts val="2961"/>
                </a:lnSpc>
              </a:pPr>
              <a:r>
                <a:rPr lang="en-US" sz="2115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- Item prices, vouchers, or coupon values</a:t>
              </a:r>
            </a:p>
            <a:p>
              <a:pPr algn="l">
                <a:lnSpc>
                  <a:spcPts val="2961"/>
                </a:lnSpc>
              </a:pPr>
              <a:r>
                <a:rPr lang="en-US" sz="2115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- User choices (menu navigation)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57150"/>
              <a:ext cx="4975149" cy="5389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06"/>
                </a:lnSpc>
              </a:pPr>
              <a:r>
                <a:rPr lang="en-US" sz="2432" b="true">
                  <a:solidFill>
                    <a:srgbClr val="FE6544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Inputs: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531780" y="6364008"/>
            <a:ext cx="6632887" cy="2721440"/>
            <a:chOff x="0" y="0"/>
            <a:chExt cx="8843849" cy="3628586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661113"/>
              <a:ext cx="8843849" cy="2967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1"/>
                </a:lnSpc>
              </a:pPr>
              <a:r>
                <a:rPr lang="en-US" sz="2122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- Alerts for expiring items (manual or estimated expiry)</a:t>
              </a:r>
            </a:p>
            <a:p>
              <a:pPr algn="l">
                <a:lnSpc>
                  <a:spcPts val="2971"/>
                </a:lnSpc>
              </a:pPr>
              <a:r>
                <a:rPr lang="en-US" sz="2122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- Organized grocery list (add/remove/check items)</a:t>
              </a:r>
            </a:p>
            <a:p>
              <a:pPr algn="l">
                <a:lnSpc>
                  <a:spcPts val="2971"/>
                </a:lnSpc>
              </a:pPr>
              <a:r>
                <a:rPr lang="en-US" sz="2122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- Total cost calculation (with applied discounts)</a:t>
              </a:r>
            </a:p>
            <a:p>
              <a:pPr algn="l">
                <a:lnSpc>
                  <a:spcPts val="2971"/>
                </a:lnSpc>
              </a:pPr>
              <a:r>
                <a:rPr lang="en-US" sz="2122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- Confirmation messages (e.g., “Removed Soy Sauce!”)</a:t>
              </a:r>
            </a:p>
            <a:p>
              <a:pPr algn="l">
                <a:lnSpc>
                  <a:spcPts val="2971"/>
                </a:lnSpc>
              </a:pPr>
              <a:r>
                <a:rPr lang="en-US" sz="2122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- Closing message: “Thank you for using Fresh Tracker! May all your food BE FRESH!”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57150"/>
              <a:ext cx="4990699" cy="540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16"/>
                </a:lnSpc>
              </a:pPr>
              <a:r>
                <a:rPr lang="en-US" sz="2440" b="true">
                  <a:solidFill>
                    <a:srgbClr val="FE6544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Outputs: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078375" y="1151841"/>
            <a:ext cx="3048453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Rile Vince W. Soledad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Hezekiah C. Gatela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43681" y="1325104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270168" y="2783005"/>
            <a:ext cx="5741204" cy="6392029"/>
          </a:xfrm>
          <a:custGeom>
            <a:avLst/>
            <a:gdLst/>
            <a:ahLst/>
            <a:cxnLst/>
            <a:rect r="r" b="b" t="t" l="l"/>
            <a:pathLst>
              <a:path h="6392029" w="5741204">
                <a:moveTo>
                  <a:pt x="5741204" y="0"/>
                </a:moveTo>
                <a:lnTo>
                  <a:pt x="0" y="0"/>
                </a:lnTo>
                <a:lnTo>
                  <a:pt x="0" y="6392028"/>
                </a:lnTo>
                <a:lnTo>
                  <a:pt x="5741204" y="6392028"/>
                </a:lnTo>
                <a:lnTo>
                  <a:pt x="574120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26295" y="1991604"/>
            <a:ext cx="5529845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Pseudocode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87638" y="-38100"/>
            <a:ext cx="4105809" cy="1032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START PROGRAM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DISP</a:t>
            </a: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LAY main menu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1 - Expiry Date Tracker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2 - Grocery List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3 - Calculator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IF user chooses 1: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ASK for product name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ASK if expiry date is provided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IF yes: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STORE entered date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IF no: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LOOK UP estimated shelf life (e.g., banana = 21 days)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CALCULATE expiry = today + shelf life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STORE estimated date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CHECK if product is near expiry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IF true, DISPLAY alert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IF user chooses 2: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DISPLAY grocery list options: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1 - Add Product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2 - Remove Product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UPDATE grocery list accordingly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DISPLAY updated list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IF user chooses 3: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ASK for item prices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ASK for vouchers/coupons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CALCULATE total cost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DISPLAY final cost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ASK user if they want to return to home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IF yes ® GO BACK to main menu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IF no ® DISPLAY exit message</a:t>
            </a:r>
          </a:p>
          <a:p>
            <a:pPr algn="l">
              <a:lnSpc>
                <a:spcPts val="2565"/>
              </a:lnSpc>
            </a:pPr>
            <a:r>
              <a:rPr lang="en-US" sz="1832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END PROGRAM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293714" y="7455000"/>
            <a:ext cx="2524350" cy="612496"/>
            <a:chOff x="0" y="0"/>
            <a:chExt cx="3365801" cy="81666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3365801" cy="816661"/>
              <a:chOff x="0" y="0"/>
              <a:chExt cx="664849" cy="16131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64849" cy="161316"/>
              </a:xfrm>
              <a:custGeom>
                <a:avLst/>
                <a:gdLst/>
                <a:ahLst/>
                <a:cxnLst/>
                <a:rect r="r" b="b" t="t" l="l"/>
                <a:pathLst>
                  <a:path h="161316" w="664849">
                    <a:moveTo>
                      <a:pt x="80658" y="0"/>
                    </a:moveTo>
                    <a:lnTo>
                      <a:pt x="584192" y="0"/>
                    </a:lnTo>
                    <a:cubicBezTo>
                      <a:pt x="605583" y="0"/>
                      <a:pt x="626099" y="8498"/>
                      <a:pt x="641225" y="23624"/>
                    </a:cubicBezTo>
                    <a:cubicBezTo>
                      <a:pt x="656352" y="38750"/>
                      <a:pt x="664849" y="59266"/>
                      <a:pt x="664849" y="80658"/>
                    </a:cubicBezTo>
                    <a:lnTo>
                      <a:pt x="664849" y="80658"/>
                    </a:lnTo>
                    <a:cubicBezTo>
                      <a:pt x="664849" y="102050"/>
                      <a:pt x="656352" y="122565"/>
                      <a:pt x="641225" y="137692"/>
                    </a:cubicBezTo>
                    <a:cubicBezTo>
                      <a:pt x="626099" y="152818"/>
                      <a:pt x="605583" y="161316"/>
                      <a:pt x="584192" y="161316"/>
                    </a:cubicBezTo>
                    <a:lnTo>
                      <a:pt x="80658" y="161316"/>
                    </a:lnTo>
                    <a:cubicBezTo>
                      <a:pt x="59266" y="161316"/>
                      <a:pt x="38750" y="152818"/>
                      <a:pt x="23624" y="137692"/>
                    </a:cubicBezTo>
                    <a:cubicBezTo>
                      <a:pt x="8498" y="122565"/>
                      <a:pt x="0" y="102050"/>
                      <a:pt x="0" y="80658"/>
                    </a:cubicBezTo>
                    <a:lnTo>
                      <a:pt x="0" y="80658"/>
                    </a:lnTo>
                    <a:cubicBezTo>
                      <a:pt x="0" y="59266"/>
                      <a:pt x="8498" y="38750"/>
                      <a:pt x="23624" y="23624"/>
                    </a:cubicBezTo>
                    <a:cubicBezTo>
                      <a:pt x="38750" y="8498"/>
                      <a:pt x="59266" y="0"/>
                      <a:pt x="80658" y="0"/>
                    </a:cubicBez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664849" cy="2089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09392" y="152247"/>
              <a:ext cx="2947017" cy="4497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00004D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Get Started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910540" y="1325104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8" y="0"/>
                </a:lnTo>
                <a:lnTo>
                  <a:pt x="314088" y="351115"/>
                </a:lnTo>
                <a:lnTo>
                  <a:pt x="0" y="3511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66992" y="1277479"/>
            <a:ext cx="3048453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Rile Vince W. Soledad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Hezekiah C. Gatela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48279" y="-201425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850105" y="0"/>
            <a:ext cx="14437895" cy="10287000"/>
          </a:xfrm>
          <a:custGeom>
            <a:avLst/>
            <a:gdLst/>
            <a:ahLst/>
            <a:cxnLst/>
            <a:rect r="r" b="b" t="t" l="l"/>
            <a:pathLst>
              <a:path h="10287000" w="14437895">
                <a:moveTo>
                  <a:pt x="0" y="0"/>
                </a:moveTo>
                <a:lnTo>
                  <a:pt x="14437895" y="0"/>
                </a:lnTo>
                <a:lnTo>
                  <a:pt x="1443789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0" y="3998226"/>
            <a:ext cx="4139157" cy="6288774"/>
          </a:xfrm>
          <a:custGeom>
            <a:avLst/>
            <a:gdLst/>
            <a:ahLst/>
            <a:cxnLst/>
            <a:rect r="r" b="b" t="t" l="l"/>
            <a:pathLst>
              <a:path h="6288774" w="4139157">
                <a:moveTo>
                  <a:pt x="4139157" y="0"/>
                </a:moveTo>
                <a:lnTo>
                  <a:pt x="0" y="0"/>
                </a:lnTo>
                <a:lnTo>
                  <a:pt x="0" y="6288774"/>
                </a:lnTo>
                <a:lnTo>
                  <a:pt x="4139157" y="6288774"/>
                </a:lnTo>
                <a:lnTo>
                  <a:pt x="413915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10540" y="1325104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8" y="0"/>
                </a:lnTo>
                <a:lnTo>
                  <a:pt x="314088" y="351115"/>
                </a:lnTo>
                <a:lnTo>
                  <a:pt x="0" y="3511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4508987" y="1264365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695155" y="0"/>
                </a:moveTo>
                <a:lnTo>
                  <a:pt x="0" y="0"/>
                </a:lnTo>
                <a:lnTo>
                  <a:pt x="0" y="775528"/>
                </a:lnTo>
                <a:lnTo>
                  <a:pt x="695155" y="775528"/>
                </a:lnTo>
                <a:lnTo>
                  <a:pt x="695155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849" y="-76200"/>
            <a:ext cx="4490138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8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Flowchart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24628" y="1277479"/>
            <a:ext cx="2631936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Rile Vince W.  </a:t>
            </a:r>
            <a:r>
              <a:rPr lang="en-US" sz="2000">
                <a:solidFill>
                  <a:srgbClr val="00004D"/>
                </a:solidFill>
                <a:latin typeface="Aileron"/>
                <a:ea typeface="Aileron"/>
                <a:cs typeface="Aileron"/>
                <a:sym typeface="Aileron"/>
              </a:rPr>
              <a:t>Soledad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Hezekiah C. G</a:t>
            </a:r>
            <a:r>
              <a:rPr lang="en-US" sz="2000">
                <a:solidFill>
                  <a:srgbClr val="00004D"/>
                </a:solidFill>
                <a:latin typeface="Aileron"/>
                <a:ea typeface="Aileron"/>
                <a:cs typeface="Aileron"/>
                <a:sym typeface="Aileron"/>
              </a:rPr>
              <a:t>atela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49698" y="-1921798"/>
            <a:ext cx="14130596" cy="1413059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27530" y="979413"/>
            <a:ext cx="2428427" cy="824816"/>
          </a:xfrm>
          <a:custGeom>
            <a:avLst/>
            <a:gdLst/>
            <a:ahLst/>
            <a:cxnLst/>
            <a:rect r="r" b="b" t="t" l="l"/>
            <a:pathLst>
              <a:path h="824816" w="2428427">
                <a:moveTo>
                  <a:pt x="0" y="0"/>
                </a:moveTo>
                <a:lnTo>
                  <a:pt x="2428427" y="0"/>
                </a:lnTo>
                <a:lnTo>
                  <a:pt x="2428427" y="824815"/>
                </a:lnTo>
                <a:lnTo>
                  <a:pt x="0" y="824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318920" y="3490215"/>
            <a:ext cx="5650161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The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72280" y="4904386"/>
            <a:ext cx="4343440" cy="137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0"/>
              </a:lnSpc>
            </a:pPr>
            <a:r>
              <a:rPr lang="en-US" sz="802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End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39798" y="-3977874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10523" y="1974394"/>
            <a:ext cx="4041346" cy="6946063"/>
          </a:xfrm>
          <a:custGeom>
            <a:avLst/>
            <a:gdLst/>
            <a:ahLst/>
            <a:cxnLst/>
            <a:rect r="r" b="b" t="t" l="l"/>
            <a:pathLst>
              <a:path h="6946063" w="4041346">
                <a:moveTo>
                  <a:pt x="0" y="0"/>
                </a:moveTo>
                <a:lnTo>
                  <a:pt x="4041346" y="0"/>
                </a:lnTo>
                <a:lnTo>
                  <a:pt x="4041346" y="6946063"/>
                </a:lnTo>
                <a:lnTo>
                  <a:pt x="0" y="69460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674832"/>
            <a:ext cx="8292424" cy="1744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7"/>
              </a:lnSpc>
            </a:pPr>
            <a:r>
              <a:rPr lang="en-US" sz="3334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Members:</a:t>
            </a:r>
          </a:p>
          <a:p>
            <a:pPr algn="l">
              <a:lnSpc>
                <a:spcPts val="4667"/>
              </a:lnSpc>
            </a:pPr>
            <a:r>
              <a:rPr lang="en-US" sz="3334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Hezekiah C. Gatela (Interface, if statements)</a:t>
            </a:r>
          </a:p>
          <a:p>
            <a:pPr algn="l">
              <a:lnSpc>
                <a:spcPts val="4667"/>
              </a:lnSpc>
            </a:pPr>
            <a:r>
              <a:rPr lang="en-US" sz="3334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Rile Vince W. Soledad (day logic)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01752" y="1028700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7" y="0"/>
                </a:lnTo>
                <a:lnTo>
                  <a:pt x="314087" y="351114"/>
                </a:lnTo>
                <a:lnTo>
                  <a:pt x="0" y="351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17928" y="981075"/>
            <a:ext cx="3048453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Rile Vince W. Soledad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Hezekiah C. Gatela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2243874"/>
            <a:ext cx="8525339" cy="1770007"/>
            <a:chOff x="0" y="0"/>
            <a:chExt cx="11367119" cy="236001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95250"/>
              <a:ext cx="8695343" cy="18603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510"/>
                </a:lnSpc>
              </a:pPr>
              <a:r>
                <a:rPr lang="en-US" sz="8720" b="true">
                  <a:solidFill>
                    <a:srgbClr val="FE654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Thank You!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452484"/>
              <a:ext cx="11367119" cy="907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7"/>
                </a:lnSpc>
              </a:pPr>
              <a:r>
                <a:rPr lang="en-US" sz="4248" b="true">
                  <a:solidFill>
                    <a:srgbClr val="FE6544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from the Fresh Tracker! Team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5879275"/>
            <a:ext cx="4078458" cy="2739304"/>
            <a:chOff x="0" y="0"/>
            <a:chExt cx="5437944" cy="365240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33013" y="0"/>
              <a:ext cx="3652406" cy="3652406"/>
            </a:xfrm>
            <a:custGeom>
              <a:avLst/>
              <a:gdLst/>
              <a:ahLst/>
              <a:cxnLst/>
              <a:rect r="r" b="b" t="t" l="l"/>
              <a:pathLst>
                <a:path h="3652406" w="3652406">
                  <a:moveTo>
                    <a:pt x="0" y="0"/>
                  </a:moveTo>
                  <a:lnTo>
                    <a:pt x="3652406" y="0"/>
                  </a:lnTo>
                  <a:lnTo>
                    <a:pt x="3652406" y="3652406"/>
                  </a:lnTo>
                  <a:lnTo>
                    <a:pt x="0" y="3652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1163331"/>
              <a:ext cx="1035619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The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694200" y="1778578"/>
              <a:ext cx="1743744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Program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DAG5wD_Q-zw</dc:identifier>
  <dcterms:modified xsi:type="dcterms:W3CDTF">2011-08-01T06:04:30Z</dcterms:modified>
  <cp:revision>1</cp:revision>
  <dc:title>Soledad and Gatela Quarter 2 Computer Science Presentation</dc:title>
</cp:coreProperties>
</file>